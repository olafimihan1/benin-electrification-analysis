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94" r:id="rId3"/>
    <p:sldId id="282" r:id="rId4"/>
    <p:sldId id="283" r:id="rId5"/>
    <p:sldId id="304" r:id="rId6"/>
    <p:sldId id="285" r:id="rId7"/>
    <p:sldId id="286" r:id="rId8"/>
    <p:sldId id="295" r:id="rId9"/>
    <p:sldId id="297" r:id="rId10"/>
    <p:sldId id="298" r:id="rId11"/>
    <p:sldId id="305" r:id="rId12"/>
    <p:sldId id="299" r:id="rId13"/>
    <p:sldId id="300" r:id="rId14"/>
    <p:sldId id="30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16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1" name="MasterHeader"/>
          <p:cNvSpPr>
            <a:spLocks noGrp="1"/>
          </p:cNvSpPr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MasterTealBar"/>
          <p:cNvSpPr>
            <a:spLocks noGrp="1"/>
          </p:cNvSpPr>
          <p:nvPr/>
        </p:nvSpPr>
        <p:spPr>
          <a:xfrm>
            <a:off x="0" y="868680"/>
            <a:ext cx="91440" cy="598932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MasterBottomLine"/>
          <p:cNvSpPr>
            <a:spLocks noGrp="1"/>
          </p:cNvSpPr>
          <p:nvPr/>
        </p:nvSpPr>
        <p:spPr>
          <a:xfrm>
            <a:off x="91440" y="6807120"/>
            <a:ext cx="9052560" cy="5088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itleBottomLine"/>
          <p:cNvSpPr>
            <a:spLocks noGrp="1"/>
          </p:cNvSpPr>
          <p:nvPr/>
        </p:nvSpPr>
        <p:spPr>
          <a:xfrm>
            <a:off x="182880" y="6706560"/>
            <a:ext cx="8961120" cy="9144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1" name="TitleDivider"/>
          <p:cNvSpPr>
            <a:spLocks noGrp="1"/>
          </p:cNvSpPr>
          <p:nvPr/>
        </p:nvSpPr>
        <p:spPr>
          <a:xfrm>
            <a:off x="182880" y="2286000"/>
            <a:ext cx="8961120" cy="9144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0" name="TitleTealBar"/>
          <p:cNvSpPr>
            <a:spLocks noGrp="1"/>
          </p:cNvSpPr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82880" y="1298888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rPr dirty="0"/>
              <a:t>Technical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8E6EF"/>
                </a:solidFill>
              </a:defRPr>
            </a:pPr>
            <a:r>
              <a:t>Demand Estimation &amp; Least-Cost Electrification Model for Benin</a:t>
            </a:r>
          </a:p>
        </p:txBody>
      </p:sp>
    </p:spTree>
    <p:extLst>
      <p:ext uri="{BB962C8B-B14F-4D97-AF65-F5344CB8AC3E}">
        <p14:creationId xmlns:p14="http://schemas.microsoft.com/office/powerpoint/2010/main" val="1108793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ChromeHeader"/>
          <p:cNvSpPr>
            <a:spLocks noGrp="1"/>
          </p:cNvSpPr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ChromeTealBar"/>
          <p:cNvSpPr>
            <a:spLocks noGrp="1"/>
          </p:cNvSpPr>
          <p:nvPr/>
        </p:nvSpPr>
        <p:spPr>
          <a:xfrm>
            <a:off x="0" y="868680"/>
            <a:ext cx="182880" cy="598932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2" name="ChromeBottom"/>
          <p:cNvSpPr>
            <a:spLocks noGrp="1"/>
          </p:cNvSpPr>
          <p:nvPr/>
        </p:nvSpPr>
        <p:spPr>
          <a:xfrm>
            <a:off x="91440" y="6807120"/>
            <a:ext cx="9052560" cy="5088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52400"/>
            <a:ext cx="86868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Demand Model — Assumptions &amp;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Framework: World Bank Multi-Tier Framework (MTF)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Tier 1:  22 kWh/hh/yr    Tier 2:  73    Tier 3: 365    Tier 4: 730    Tier 5: 2190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Tier assignment per settlement (heuristic):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pop &gt;= 10 000 or nightlight  --&gt;  Tier 5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pop &gt;= 3 000 or (1 000 + nightlight + services) --&gt;  Tier 4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pop &gt;= 500 or (200 + services) or dist &lt; 5 km  --&gt;  Tier 3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pop &gt;= 100 or services or dist &lt; 15 km  --&gt;  Tier 2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else  --&gt;  Tier 1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Residential demand (year t):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D_res(t) = connections(t) * tier_kWh * (1.05)^t  /  1000    [MWh]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Productive:      D_prod = D_res * 0.20  (shops, mills, irrigation)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Institutional:   D_inst = D_res * 0.10  (schools, health centres)</a:t>
            </a:r>
          </a:p>
        </p:txBody>
      </p:sp>
    </p:spTree>
    <p:extLst>
      <p:ext uri="{BB962C8B-B14F-4D97-AF65-F5344CB8AC3E}">
        <p14:creationId xmlns:p14="http://schemas.microsoft.com/office/powerpoint/2010/main" val="4079070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hromeBottom"/>
          <p:cNvSpPr>
            <a:spLocks noGrp="1"/>
          </p:cNvSpPr>
          <p:nvPr/>
        </p:nvSpPr>
        <p:spPr>
          <a:xfrm>
            <a:off x="91440" y="6807120"/>
            <a:ext cx="9052560" cy="5088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ChromeTealBar"/>
          <p:cNvSpPr>
            <a:spLocks noGrp="1"/>
          </p:cNvSpPr>
          <p:nvPr/>
        </p:nvSpPr>
        <p:spPr>
          <a:xfrm>
            <a:off x="0" y="868680"/>
            <a:ext cx="182880" cy="598932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ChromeHeader"/>
          <p:cNvSpPr>
            <a:spLocks noGrp="1"/>
          </p:cNvSpPr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52400"/>
            <a:ext cx="86868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Demand Model — Growth &amp; Electrification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Planning horizon: 10 years (2024-2034)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Population growth: 2.7 %/yr (World Bank WDI, Benin)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Per-connection demand growth: 5 %/yr (IEA Africa Energy Outlook)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Household size: 4.5 people (DHS West Africa surveys)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Electrification rate growth: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Linear ramp from initial rate to 100 % by 2034 (SDG7 target)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Initial rate varies by proximity to grid: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  dist &lt; 2 km:  60 %      dist &lt; 10 km: 35 %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  dist &lt; 30 km: 15 %      dist &gt; 30 km:  5 %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Total demand = Residential + Productive (20%) + Institutional (10%)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Key difference from OnSSET: we add productive &amp; institutional demand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(OnSSET models residential only; this is our modification)</a:t>
            </a:r>
          </a:p>
        </p:txBody>
      </p:sp>
    </p:spTree>
    <p:extLst>
      <p:ext uri="{BB962C8B-B14F-4D97-AF65-F5344CB8AC3E}">
        <p14:creationId xmlns:p14="http://schemas.microsoft.com/office/powerpoint/2010/main" val="2920026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hromeBottom"/>
          <p:cNvSpPr>
            <a:spLocks noGrp="1"/>
          </p:cNvSpPr>
          <p:nvPr/>
        </p:nvSpPr>
        <p:spPr>
          <a:xfrm>
            <a:off x="91440" y="6807120"/>
            <a:ext cx="9052560" cy="5088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ChromeTealBar"/>
          <p:cNvSpPr>
            <a:spLocks noGrp="1"/>
          </p:cNvSpPr>
          <p:nvPr/>
        </p:nvSpPr>
        <p:spPr>
          <a:xfrm>
            <a:off x="0" y="868680"/>
            <a:ext cx="182880" cy="598932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ChromeHeader"/>
          <p:cNvSpPr>
            <a:spLocks noGrp="1"/>
          </p:cNvSpPr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52400"/>
            <a:ext cx="86868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Technology Cost Assumptions</a:t>
            </a:r>
          </a:p>
        </p:txBody>
      </p:sp>
      <p:graphicFrame>
        <p:nvGraphicFramePr>
          <p:cNvPr id="300" name="CostTable"/>
          <p:cNvGraphicFramePr>
            <a:graphicFrameLocks noGrp="1"/>
          </p:cNvGraphicFramePr>
          <p:nvPr/>
        </p:nvGraphicFramePr>
        <p:xfrm>
          <a:off x="228600" y="1000000"/>
          <a:ext cx="8686800" cy="55854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Grid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Mini-grid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SHS</a:t>
                      </a:r>
                    </a:p>
                  </a:txBody>
                  <a:tcPr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3A6B"/>
                          </a:solidFill>
                        </a:rPr>
                        <a:t>CAPEX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$7,000/km 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$3,500/kW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$150–1,500/sys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3A6B"/>
                          </a:solidFill>
                        </a:rPr>
                        <a:t>Connection cost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$200/hh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$400/hh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Included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3A6B"/>
                          </a:solidFill>
                        </a:rPr>
                        <a:t>OPEX (% CAPEX/yr)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3A6B"/>
                          </a:solidFill>
                        </a:rPr>
                        <a:t>Discount rate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10%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3A6B"/>
                          </a:solidFill>
                        </a:rPr>
                        <a:t>Lifetime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30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20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10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3A6B"/>
                          </a:solidFill>
                        </a:rPr>
                        <a:t>Max distance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50 km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3A6B"/>
                          </a:solidFill>
                        </a:rPr>
                        <a:t>Pop.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Any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50–10,000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Any (Tier 1–3)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3A6B"/>
                          </a:solidFill>
                        </a:rPr>
                        <a:t>T&amp;D losses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8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3A6B"/>
                          </a:solidFill>
                        </a:rPr>
                        <a:t>Gen.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$80/MWh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1A3A6B"/>
                          </a:solidFill>
                        </a:rPr>
                        <a:t>Sources: OnSSET defaults [Mentis 2017], IRENA 2023, SEforALL mini-grid benchmark 2024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3154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hromeBottom"/>
          <p:cNvSpPr>
            <a:spLocks noGrp="1"/>
          </p:cNvSpPr>
          <p:nvPr/>
        </p:nvSpPr>
        <p:spPr>
          <a:xfrm>
            <a:off x="91440" y="6807120"/>
            <a:ext cx="9052560" cy="5088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ChromeTealBar"/>
          <p:cNvSpPr>
            <a:spLocks noGrp="1"/>
          </p:cNvSpPr>
          <p:nvPr/>
        </p:nvSpPr>
        <p:spPr>
          <a:xfrm>
            <a:off x="0" y="868680"/>
            <a:ext cx="182880" cy="598932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ChromeHeader"/>
          <p:cNvSpPr>
            <a:spLocks noGrp="1"/>
          </p:cNvSpPr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52400"/>
            <a:ext cx="86868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LCOE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11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LCOE = NPV(Total Costs) / NPV(Energy Delivered)   [USD/MWh]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NPV = SUM( </a:t>
            </a:r>
            <a:r>
              <a:rPr dirty="0" err="1"/>
              <a:t>value_t</a:t>
            </a:r>
            <a:r>
              <a:rPr dirty="0"/>
              <a:t> / (1 + r)^t )   for t = 0 .. 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r = 10 % (</a:t>
            </a:r>
            <a:r>
              <a:rPr dirty="0" err="1"/>
              <a:t>OnSSET</a:t>
            </a:r>
            <a:r>
              <a:rPr dirty="0"/>
              <a:t> standard for SSA)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Cost stream for each technology: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Year 0:   CAPEX + OPEX_0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Year t&gt;0: </a:t>
            </a:r>
            <a:r>
              <a:rPr dirty="0" err="1"/>
              <a:t>OPEX_t</a:t>
            </a:r>
            <a:r>
              <a:rPr dirty="0"/>
              <a:t> * (1.02)^t   +   replacements (if scheduled)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Grid:      OPEX includes energy purchase at $80/MWh (grid tariff)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     </a:t>
            </a:r>
            <a:r>
              <a:rPr lang="en-US" dirty="0"/>
              <a:t>     </a:t>
            </a:r>
            <a:r>
              <a:rPr dirty="0"/>
              <a:t>    Energy delivered adjusted for 15 % T&amp;D losses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Mini-grid: Battery replacement at year 7 (40 % of gen CAPEX * 0.7)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SHS:       Battery replacement at year 5 (35 % of system * 0.8)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Least-cost selection: technology with minimum LCOE wins</a:t>
            </a:r>
          </a:p>
        </p:txBody>
      </p:sp>
    </p:spTree>
    <p:extLst>
      <p:ext uri="{BB962C8B-B14F-4D97-AF65-F5344CB8AC3E}">
        <p14:creationId xmlns:p14="http://schemas.microsoft.com/office/powerpoint/2010/main" val="3379653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hromeBottom"/>
          <p:cNvSpPr>
            <a:spLocks noGrp="1"/>
          </p:cNvSpPr>
          <p:nvPr/>
        </p:nvSpPr>
        <p:spPr>
          <a:xfrm>
            <a:off x="91440" y="6807120"/>
            <a:ext cx="9052560" cy="5088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ChromeTealBar"/>
          <p:cNvSpPr>
            <a:spLocks noGrp="1"/>
          </p:cNvSpPr>
          <p:nvPr/>
        </p:nvSpPr>
        <p:spPr>
          <a:xfrm>
            <a:off x="0" y="868680"/>
            <a:ext cx="182880" cy="598932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ChromeHeader"/>
          <p:cNvSpPr>
            <a:spLocks noGrp="1"/>
          </p:cNvSpPr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228600" y="152400"/>
            <a:ext cx="86868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2761"/>
                </a:solidFill>
              </a:defRPr>
            </a:pPr>
            <a:r>
              <a:t>17197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</a:defRPr>
            </a:pPr>
            <a:r>
              <a:t>Settlements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188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2761"/>
                </a:solidFill>
              </a:defRPr>
            </a:pPr>
            <a:r>
              <a:t>13,968,034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</a:defRPr>
            </a:pPr>
            <a:r>
              <a:t>Population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1887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2761"/>
                </a:solidFill>
              </a:defRPr>
            </a:pPr>
            <a:r>
              <a:t>13,530,363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99999"/>
                </a:solidFill>
              </a:defRPr>
            </a:pPr>
            <a:r>
              <a:t>MWh demand (2034)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Grid:      5275 settlements (31 %)   median LCOE $5,350/MWh   median CPC $2,145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Mini-grid:  300 settlements (2 %)   median LCOE $1,882/MWh   median CPC $628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SHS:       11622 settlements (68 %)   median LCOE $1,162/MWh   median CPC $400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Tier distribution: Tier1: 3928  |  Tier2: 6940  |  Tier3: 5837  |  Tier4: 255  |  Tier5: 237</a:t>
            </a:r>
          </a:p>
        </p:txBody>
      </p:sp>
    </p:spTree>
    <p:extLst>
      <p:ext uri="{BB962C8B-B14F-4D97-AF65-F5344CB8AC3E}">
        <p14:creationId xmlns:p14="http://schemas.microsoft.com/office/powerpoint/2010/main" val="3198593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hromeBottom"/>
          <p:cNvSpPr>
            <a:spLocks noGrp="1"/>
          </p:cNvSpPr>
          <p:nvPr/>
        </p:nvSpPr>
        <p:spPr>
          <a:xfrm>
            <a:off x="91440" y="6807120"/>
            <a:ext cx="9052560" cy="5088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ChromeTealBar"/>
          <p:cNvSpPr>
            <a:spLocks noGrp="1"/>
          </p:cNvSpPr>
          <p:nvPr/>
        </p:nvSpPr>
        <p:spPr>
          <a:xfrm>
            <a:off x="0" y="868680"/>
            <a:ext cx="182880" cy="598932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ChromeHeader"/>
          <p:cNvSpPr>
            <a:spLocks noGrp="1"/>
          </p:cNvSpPr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OnSSET Modification: Productive &amp; Institutional 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Standard OnSSET approach: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Models residential demand only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Single MTF tier per country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No settlement differentiation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Our modification: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Added productive demand (+20 %)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  Shops, grain mills, irrigation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Added institutional demand (+10 %)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  Schools, health centres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Settlement-differentiated tiers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  Based on pop, distance,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Impact of modification: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Total demand increases by 30 %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Shifts some settlements from SHS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  to mini-grid (higher peak load)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More realistic representation of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  actual rural energy needs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Implementation: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D_total = D_res * (1 + 0.20 + 0.10)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Applied uniformly to all settlements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Could be refined with local surveys</a:t>
            </a:r>
          </a:p>
        </p:txBody>
      </p:sp>
    </p:spTree>
    <p:extLst>
      <p:ext uri="{BB962C8B-B14F-4D97-AF65-F5344CB8AC3E}">
        <p14:creationId xmlns:p14="http://schemas.microsoft.com/office/powerpoint/2010/main" val="501342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hromeBottom"/>
          <p:cNvSpPr>
            <a:spLocks noGrp="1"/>
          </p:cNvSpPr>
          <p:nvPr/>
        </p:nvSpPr>
        <p:spPr>
          <a:xfrm>
            <a:off x="91440" y="6807120"/>
            <a:ext cx="9052560" cy="5088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ChromeTealBar"/>
          <p:cNvSpPr>
            <a:spLocks noGrp="1"/>
          </p:cNvSpPr>
          <p:nvPr/>
        </p:nvSpPr>
        <p:spPr>
          <a:xfrm>
            <a:off x="0" y="868680"/>
            <a:ext cx="182880" cy="598932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ChromeHeader"/>
          <p:cNvSpPr>
            <a:spLocks noGrp="1"/>
          </p:cNvSpPr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Least-Cost Decision Logic &amp; Prioritisation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For each settlement: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1. Estimate demand (tier + growth + productive + institutional)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2. Check viability constraints: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     Grid:  distance &lt;= 50 km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     Mini-grid:  50 &lt;= population &lt;= 10,000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     SHS:  demand tier &lt;= 3 (SHS cannot serve Tier 4-5)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3. Compute LCOE for each viable technology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4. Select technology with lowest LCOE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Priority scoring (for settlement ranking):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Priority = 0.40 * </a:t>
            </a:r>
            <a:r>
              <a:rPr dirty="0" err="1"/>
              <a:t>pop_norm</a:t>
            </a:r>
            <a:r>
              <a:rPr dirty="0"/>
              <a:t> + 0.25 * </a:t>
            </a:r>
            <a:r>
              <a:rPr dirty="0" err="1"/>
              <a:t>infra_score</a:t>
            </a: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         + 0.20 * </a:t>
            </a:r>
            <a:r>
              <a:rPr dirty="0" err="1"/>
              <a:t>cost_effectiveness</a:t>
            </a:r>
            <a:r>
              <a:rPr dirty="0"/>
              <a:t> + 0.15 * </a:t>
            </a:r>
            <a:r>
              <a:rPr dirty="0" err="1"/>
              <a:t>grid_proximity</a:t>
            </a:r>
            <a:endParaRPr dirty="0"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Where </a:t>
            </a:r>
            <a:r>
              <a:rPr dirty="0" err="1"/>
              <a:t>infra_score</a:t>
            </a:r>
            <a:r>
              <a:rPr dirty="0"/>
              <a:t> = 0.6 * </a:t>
            </a:r>
            <a:r>
              <a:rPr dirty="0" err="1"/>
              <a:t>has_health</a:t>
            </a:r>
            <a:r>
              <a:rPr dirty="0"/>
              <a:t> + 0.4 * </a:t>
            </a:r>
            <a:r>
              <a:rPr dirty="0" err="1"/>
              <a:t>has_education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651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hromeBottom"/>
          <p:cNvSpPr>
            <a:spLocks noGrp="1"/>
          </p:cNvSpPr>
          <p:nvPr/>
        </p:nvSpPr>
        <p:spPr>
          <a:xfrm>
            <a:off x="91440" y="6807120"/>
            <a:ext cx="9052560" cy="5088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ChromeTealBar"/>
          <p:cNvSpPr>
            <a:spLocks noGrp="1"/>
          </p:cNvSpPr>
          <p:nvPr/>
        </p:nvSpPr>
        <p:spPr>
          <a:xfrm>
            <a:off x="0" y="868680"/>
            <a:ext cx="182880" cy="598932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ChromeHeader"/>
          <p:cNvSpPr>
            <a:spLocks noGrp="1"/>
          </p:cNvSpPr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Sensitivity Analysis — Actual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8412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Method: One-at-a-time (OAT). Base case: Grid 23% / Mini-grid 0.9% / SHS 76% / Mean LCOE $1,434/MWh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Discount Rate                 Grid: 23–23% (±0.0pp)   SHS: 76–76%   LCOE: $1,129–$1,795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Grid Line Cost                Grid: 20–28% (±4.1pp)   SHS: 71–79%   LCOE: $1,406–$1,455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SHS System Cost               Grid: 19–26% (±3.2pp)   SHS: 70–81%   LCOE: $1,110–$1,743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Demand Growth Rate            Grid: 23–23% (±0.1pp)   SHS: 72–77%   LCOE: $1,131–$1,711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Mini-grid PV+Battery Cost     Grid: 22–23% (±0.8pp)   SHS: 72–77%   LCOE: $1,428–$1,435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Key findings: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Grid line cost has the largest impact on technology mix (±4 pp)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SHS cost shifts Mini-grid share most (0–5% range)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Demand growth mainly affects LCOE, not technology choice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Discount rate affects LCOE strongly but not which tech wins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200">
                <a:solidFill>
                  <a:srgbClr val="323232"/>
                </a:solidFill>
              </a:defRPr>
            </a:pPr>
            <a:r>
              <a:t>  Mini-grid cost drives its own viability (disappears above $4,000/kW)</a:t>
            </a:r>
          </a:p>
        </p:txBody>
      </p:sp>
    </p:spTree>
    <p:extLst>
      <p:ext uri="{BB962C8B-B14F-4D97-AF65-F5344CB8AC3E}">
        <p14:creationId xmlns:p14="http://schemas.microsoft.com/office/powerpoint/2010/main" val="867402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hromeBottom"/>
          <p:cNvSpPr>
            <a:spLocks noGrp="1"/>
          </p:cNvSpPr>
          <p:nvPr/>
        </p:nvSpPr>
        <p:spPr>
          <a:xfrm>
            <a:off x="91440" y="6807120"/>
            <a:ext cx="9052560" cy="5088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ChromeTealBar"/>
          <p:cNvSpPr>
            <a:spLocks noGrp="1"/>
          </p:cNvSpPr>
          <p:nvPr/>
        </p:nvSpPr>
        <p:spPr>
          <a:xfrm>
            <a:off x="0" y="868680"/>
            <a:ext cx="182880" cy="598932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ChromeHeader"/>
          <p:cNvSpPr>
            <a:spLocks noGrp="1"/>
          </p:cNvSpPr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Sensitivity Analysis — Technology Mix by Parameter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24481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300">
                <a:solidFill>
                  <a:srgbClr val="323232"/>
                </a:solidFill>
              </a:defRPr>
            </a:pPr>
            <a:r>
              <a:rPr dirty="0"/>
              <a:t>Summary of most sensitive parameters (impact on % settlements per tech):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2743200"/>
          <a:ext cx="8412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Grid swing (pp)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SHS swing (pp)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MG swing (pp)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LCOE range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Grid Line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±4.1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±4.0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±0.2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$1,406–$1,455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SHS System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±3.2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±5.6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±2.4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$1,110–$1,743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Mini-grid PV+Battery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±0.8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±2.2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±3.0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$1,428–$1,435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Demand Growth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±0.1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±2.2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±2.2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$1,131–$1,711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Discount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±0.0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±0.0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±0.0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/>
                      </a:pPr>
                      <a:r>
                        <a:t>$1,129–$1,795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0801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hromeBottom"/>
          <p:cNvSpPr>
            <a:spLocks noGrp="1"/>
          </p:cNvSpPr>
          <p:nvPr/>
        </p:nvSpPr>
        <p:spPr>
          <a:xfrm>
            <a:off x="91440" y="6807120"/>
            <a:ext cx="9052560" cy="5088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ChromeTealBar"/>
          <p:cNvSpPr>
            <a:spLocks noGrp="1"/>
          </p:cNvSpPr>
          <p:nvPr/>
        </p:nvSpPr>
        <p:spPr>
          <a:xfrm>
            <a:off x="0" y="868680"/>
            <a:ext cx="182880" cy="598932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ChromeHeader"/>
          <p:cNvSpPr>
            <a:spLocks noGrp="1"/>
          </p:cNvSpPr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Code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Python implementation (benin_electrification.py, ~600 lines):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Functions (not classes — kept simple per assignment guidance):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assign_demand_tier()    Heuristic tier assignment per settlement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estimate_demand()       10-year demand projection (DataFrame)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cost_grid()             Grid extension LCOE + cost/connection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cost_minigrid()         Mini-grid (solar PV) LCOE + cost/connection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cost_shs()              Solar Home System LCOE + cost/connection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analyze_settlement()    Orchestrates demand + costs + selection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run()                   Main entry point; loops all settlements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Supporting script: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run_analysis.py         Pipeline: runs analysis + generates 6 charts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create_presentations.py This script; generates PPTX decks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Dependencies: numpy, pandas, matplotlib, python-pptx</a:t>
            </a:r>
          </a:p>
        </p:txBody>
      </p:sp>
    </p:spTree>
    <p:extLst>
      <p:ext uri="{BB962C8B-B14F-4D97-AF65-F5344CB8AC3E}">
        <p14:creationId xmlns:p14="http://schemas.microsoft.com/office/powerpoint/2010/main" val="2238813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hromeBottom"/>
          <p:cNvSpPr>
            <a:spLocks noGrp="1"/>
          </p:cNvSpPr>
          <p:nvPr/>
        </p:nvSpPr>
        <p:spPr>
          <a:xfrm>
            <a:off x="91440" y="6807120"/>
            <a:ext cx="9052560" cy="5088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ChromeTealBar"/>
          <p:cNvSpPr>
            <a:spLocks noGrp="1"/>
          </p:cNvSpPr>
          <p:nvPr/>
        </p:nvSpPr>
        <p:spPr>
          <a:xfrm>
            <a:off x="0" y="868680"/>
            <a:ext cx="182880" cy="598932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ChromeHeader"/>
          <p:cNvSpPr>
            <a:spLocks noGrp="1"/>
          </p:cNvSpPr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Limitations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Model limitations: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Tier assignment is heuristic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No hourly load profiles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Fixed cost assumptions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No grid capacity constraints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No technology switching over time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Diesel backup not modelled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Single household size (4.5)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With more time / data: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Calibrate tiers with survey data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Add solar irradiance (GHI) maps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Model grid congestion / feeders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Include affordability analysis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Run full </a:t>
            </a:r>
            <a:r>
              <a:rPr dirty="0" err="1"/>
              <a:t>OnSSET</a:t>
            </a:r>
            <a:r>
              <a:rPr dirty="0"/>
              <a:t> with GEP data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Add diesel hybrid mini-grids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Implement Monte Carlo sensitivity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rPr dirty="0"/>
              <a:t>  GIS </a:t>
            </a:r>
            <a:r>
              <a:rPr dirty="0" err="1"/>
              <a:t>visualisation</a:t>
            </a:r>
            <a:r>
              <a:rPr dirty="0"/>
              <a:t> of results</a:t>
            </a:r>
          </a:p>
        </p:txBody>
      </p:sp>
    </p:spTree>
    <p:extLst>
      <p:ext uri="{BB962C8B-B14F-4D97-AF65-F5344CB8AC3E}">
        <p14:creationId xmlns:p14="http://schemas.microsoft.com/office/powerpoint/2010/main" val="4064404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ChromeBottom"/>
          <p:cNvSpPr>
            <a:spLocks noGrp="1"/>
          </p:cNvSpPr>
          <p:nvPr/>
        </p:nvSpPr>
        <p:spPr>
          <a:xfrm>
            <a:off x="91440" y="6807120"/>
            <a:ext cx="9052560" cy="5088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1" name="ChromeTealBar"/>
          <p:cNvSpPr>
            <a:spLocks noGrp="1"/>
          </p:cNvSpPr>
          <p:nvPr/>
        </p:nvSpPr>
        <p:spPr>
          <a:xfrm>
            <a:off x="0" y="868680"/>
            <a:ext cx="182880" cy="5989320"/>
          </a:xfrm>
          <a:prstGeom prst="rect">
            <a:avLst/>
          </a:prstGeom>
          <a:solidFill>
            <a:srgbClr val="00B5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0" name="ChromeHeader"/>
          <p:cNvSpPr>
            <a:spLocks noGrp="1"/>
          </p:cNvSpPr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[1] Mentis et al. (2017) 'Lighting the World: OnSSET on SSA'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  Environmental Research Letters, 12:085003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[2] Korkovelos et al. (2023) 'Cost of electrifying 40 SSA countries'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  Nature Communications, 14:4769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[3] IRENA (2023) Renewable Power Generation Costs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  irena.org/publications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[4] World Bank Multi-Tier Framework for Energy Access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    seforall.org/publications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[5] OnSSET documentation: onsset.readthedocs.io</a:t>
            </a:r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endParaRPr/>
          </a:p>
          <a:p>
            <a:pPr>
              <a:spcBef>
                <a:spcPts val="500"/>
              </a:spcBef>
              <a:spcAft>
                <a:spcPts val="500"/>
              </a:spcAft>
              <a:defRPr sz="1400">
                <a:solidFill>
                  <a:srgbClr val="323232"/>
                </a:solidFill>
              </a:defRPr>
            </a:pPr>
            <a:r>
              <a:t>[6] SEforALL (2024) Mini-grid CAPEX/OPEX Benchmark Study</a:t>
            </a:r>
          </a:p>
        </p:txBody>
      </p:sp>
    </p:spTree>
    <p:extLst>
      <p:ext uri="{BB962C8B-B14F-4D97-AF65-F5344CB8AC3E}">
        <p14:creationId xmlns:p14="http://schemas.microsoft.com/office/powerpoint/2010/main" val="1593112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 [1779975189517]">
  <a:themeElements>
    <a:clrScheme name="Office">
      <a:dk1>
        <a:srgbClr val="0D1B3E"/>
      </a:dk1>
      <a:lt1>
        <a:srgbClr val="F4F7FB"/>
      </a:lt1>
      <a:dk2>
        <a:srgbClr val="1A3A6B"/>
      </a:dk2>
      <a:lt2>
        <a:srgbClr val="E8EDF5"/>
      </a:lt2>
      <a:accent1>
        <a:srgbClr val="00B5CC"/>
      </a:accent1>
      <a:accent2>
        <a:srgbClr val="0D1B3E"/>
      </a:accent2>
      <a:accent3>
        <a:srgbClr val="F4A300"/>
      </a:accent3>
      <a:accent4>
        <a:srgbClr val="2E7D32"/>
      </a:accent4>
      <a:accent5>
        <a:srgbClr val="5E5CE6"/>
      </a:accent5>
      <a:accent6>
        <a:srgbClr val="C0392B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41155A7-8554-BC47-B722-A1AD621107C6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9fb6b7a-a924-461a-a63c-30c817089d9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1588</Words>
  <Application>Microsoft Macintosh PowerPoint</Application>
  <PresentationFormat>On-screen Show (4:3)</PresentationFormat>
  <Paragraphs>239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Office Theme</vt:lpstr>
      <vt:lpstr>Office Theme [1779975189517]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Admin Fim</cp:lastModifiedBy>
  <cp:revision>5</cp:revision>
  <dcterms:created xsi:type="dcterms:W3CDTF">2013-01-27T09:14:16Z</dcterms:created>
  <dcterms:modified xsi:type="dcterms:W3CDTF">2026-05-28T14:04:30Z</dcterms:modified>
  <cp:category/>
</cp:coreProperties>
</file>